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96C7"/>
                </a:solidFill>
                <a:latin typeface="Calibri"/>
              </a:defRPr>
            </a:pPr>
            <a:r>
              <a:t>SEED ROUND — INVESTOR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t>TURBOQUANT</a:t>
            </a:r>
          </a:p>
          <a:p>
            <a:pPr>
              <a:spcBef>
                <a:spcPts val="1600"/>
              </a:spcBef>
              <a:defRPr sz="2600">
                <a:solidFill>
                  <a:srgbClr val="0096C7"/>
                </a:solidFill>
                <a:latin typeface="Calibri"/>
              </a:defRPr>
            </a:pPr>
            <a:r>
              <a:t>The £50 Ultrasound Platform Challenging £50,000 Medical Devices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Liver Disease is a Silent Pandemic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Calibri"/>
              </a:defRPr>
            </a:pPr>
            <a:r>
              <a:t>1.5B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People at risk of chronic liver disease globally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C7"/>
                </a:solidFill>
                <a:latin typeface="Calibri"/>
              </a:defRPr>
            </a:pPr>
            <a:r>
              <a:t>£30K+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Cost of commercial elastography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C6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Open-source alternatives with validated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97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£2.5B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7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Addressable market for portable elastography by 2030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The Solution: TurboQuant V5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Open hardware + rigorous science + real clinical need = defensible market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Open-hardware 8-channel ultrasound acquisition platform built on the Red Pitaya STEMlab 125-14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Integrates ±100V HV pulser, T/R switching, analog MUX, and low-noise amplifiers on a single 100×80 mm PCB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Rigorous physics foundation: peer-review-ready Bayesian framework for viscoelastic parameter estimation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Total BOM cost under £50 — democratizing access to technology that typically costs £10,000–£50,000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Designed for liver fibrosis staging, breast lesion characterization, cardiovascular assessment, and NDE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Battery-powered (4–6 hrs), WiFi-enabled, field-deployable — from rural clinics to offshore rigs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Product Vision: Portable Clinical Form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Handheld 8-channel platform with integrated display, WiFi, and 6-hour battery. Clinical enclosure concept for IP54-rated field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6B3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PHYSICS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Shear Wave Propagation in Viscoelastic Tissue</a:t>
            </a:r>
          </a:p>
        </p:txBody>
      </p:sp>
      <p:pic>
        <p:nvPicPr>
          <p:cNvPr id="5" name="Picture 4" descr="pitch_physics_shear_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223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A. Wave propagation in soft tissue (100 Hz, 2 m/s). B. Wavelength directly measures stiffness — fibrotic liver is 5× stiffer with visibly shorter wavelength. C. Phase velocity dispersion is the material signature used for inversion.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The Inverse Problem: Why Point Estimates Fail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Published-ready methodology addressing fundamental flaws in current elastography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Forward prediction (known material properties → dispersion curve) is straightforward; the inverse is not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Challenge 1: Numerical dispersion from FDTD simulations deviates 10–30% from analytical theory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Challenge 2: Parameter degeneracy — G∞ and τσ trade off; different combinations produce identical dispersion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Our Bayesian framework calibrates forward models (error: 30% → &lt;2%, RMSE 0.017 m/s)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MCMC sampling provides full posterior distributions — not point estimates with hidden uncertainty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Key finding: G₀ is ~3,000× more identifiable than G∞; credible intervals enable clinical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Validation: Robust Parameter Recovery at Realistic SNR</a:t>
            </a:r>
          </a:p>
        </p:txBody>
      </p:sp>
      <p:pic>
        <p:nvPicPr>
          <p:cNvPr id="5" name="Picture 4" descr="pitch_physics_bayes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609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A. Parameter misfit landscape reveals G₀ is 3,000× more identifiable than G∞. B. Bayesian posterior gives credible intervals, not point estimates. C. G₀ recovery within ±20% at 20 dB SNR — sufficient for clinical fibrosis staging.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6B3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System Architecture: Every Component Justified</a:t>
            </a:r>
          </a:p>
        </p:txBody>
      </p:sp>
      <p:pic>
        <p:nvPicPr>
          <p:cNvPr id="5" name="Picture 4" descr="pitch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306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Red Pitaya SDR backbone → 74HCT595 digital control → TC4427/IRF830 HV TX switch → MUR120 T/R bridge → DG408 MUX → OPA1641 LNA → ADC. All components selected for performance, cost, and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PCB Layout: 4-Layer, 100×80 mm,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L1: HV components + SMA | L2: Solid GND plane | L3: Power rails (5V, 12V, ±100V) | L4: Logic/control. JLCPCB fabricable.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Bill of Materials: Under £50 vs. £50,000 Commercial Systems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Unit economics that work at seed stage and scale to 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Power (LM7805, AMS1117, protection): £3 | Digital (74HCT595, BSS138): £0.50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Analog MUX (2× DG408, 100V): £5.30 | LNA (2× OPA1641): £3.20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TX switches (8× IRF830 + drivers): £7.60 | Connectors (11× SMA): £22.45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Total PCB + components: ~£42 → target under £50 with enclosure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Comparable commercial front-ends: FibroScan £30k+, Siemens ACUSON £50k+, Supersonic Aixplorer £80k+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Margin at scale: 1,000-unit volume reduces BOM to ~£28; retail at £299 = 10× markup, still 100× cheaper than competition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6B3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MARKET &amp;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Opportunity: TAM / SAM /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$4.2B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TAM: Global medical ultrasound devices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C7"/>
                </a:solidFill>
                <a:latin typeface="Calibri"/>
              </a:defRPr>
            </a:pPr>
            <a:r>
              <a:t>$680M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SAM: Portable/elastography ultrasound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C66"/>
                </a:solidFill>
                <a:latin typeface="Calibri"/>
              </a:defRPr>
            </a:pPr>
            <a:r>
              <a:t>$85M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SOM: Research labs + early clinical adopters (Y3)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9700" y="2011680"/>
            <a:ext cx="25831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Calibri"/>
              </a:defRPr>
            </a:pPr>
            <a:r>
              <a:t>$12M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700" y="3200400"/>
            <a:ext cx="25831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First revenue target: 2,000 units @ £299 + service (Y3)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Application 1: Liver Fibrosis Staging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The largest addressable clinical need with the weakest incumbent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1.5 billion people at risk; biopsy is invasive, expensive, and prone to sampling error (30% false negative rate)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Current standard: FibroScan — single-point, limited resolution, £30k+ device, £200+ per scan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TurboQuant: 8-element phased array enables spatial stiffness mapping across liver segments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Shear wave dispersion (300–1200 Hz) captures viscoelastic response; Bayesian inversion provides G₀ maps with uncertainty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Target: Replace biopsy for F0–F4 fibrosis staging (METAVIR) with quantitative, repeatable 3D elastography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Regulatory pathway: FDA 510(k) / CE-MDR Class IIa — 18-month timeline post-phantom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Applications 2 &amp; 3: NDE + Research Platform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Multiple revenue streams reduce single-market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Non-Destructive Evaluation: Steel weld inspection (100–400 mm depth), corrosion mapping, composite delamination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Breast cancer: Tumors 2–5× stiffer than normal tissue; multi-angle shear wave imaging for lesion characterization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Cardiovascular: Myocardial stiffness post-infarction; arterial wall elasticity for atherosclerosis assessment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Research platform: Open FPGA + Python API enables custom sequences, real-time DSP, ML integration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Education: £50 board vs. £10k+ commercial systems — ultrasound labs without vendor lock-in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Field deployment: Battery-powered, WiFi, USB-C — works anywhere from rural clinics to offshore oil rigs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Clinical Enclosure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6C7"/>
                </a:solidFill>
                <a:latin typeface="Calibri"/>
              </a:defRPr>
            </a:pPr>
            <a:r>
              <a:t>Handheld IP54-rated enclosure with integrated touchscreen, probe connector, and wireless connectivity. Designed for point-of-care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6B3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Competitive Landscape: TurboQuant's Position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No one competes on all three axes: cost, openness, and scientific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FibroScan (Echosens): £30k+, closed, single-point — market leader but stagnant, no spatial mapping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Siemens ACUSON / Philips EPIQ: £50k–£100k, closed ecosystems, annual service contracts £5k+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Supersonic Aixplorer (Hologic): £80k+, research-focused, limited open API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Open-source alternatives (OpenEIT, UltraBear): hobbyist-grade, no validated physics, no clinical pathway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TurboQuant differentiation: validated Bayesian physics + open hardware + £50 BOM + 8-channel spatial mapping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Moat: 18 months of research IP (MCMC framework, phantom protocols, calibration methodology) + hardware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Revenue Model: Hardware + Software + Services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Multiple revenue streams with clear path from seed to sustainable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Hardware sales: £299 retail (BOM £50) — research kits, education bundles, NDE contractors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Clinical tier: £899 with validated phantom calibration, regulatory documentation, and support — target early adopters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Software/API licensing: £99/year for advanced DSP toolkit, ML models, and cloud analytics — recurring revenue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Service contracts: £199/year for clinical customers — calibration, updates, priority support — 70% gross margin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Research grants: NIH, Wellcome Trust, EPSRC funding for validation studies — non-dilutive capital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Path to profitability: 1,000 clinical units + 500 service contracts by Year 3 = £1.2M revenue, 45% blended margin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Roadmap &amp; The Ask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Clear milestones. Defensible IP. Real clinical need. Proven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Q2 2026: Complete PCB layout → JLCPCB prototype (20 units, £2,500) — IN PROGRESS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Q3 2026: Bench validation + phantom studies (ATS 539 liver phantom, £3,000) + IEEE paper submission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Q4 2026: Ex vivo tissue validation (porcine liver) + regulatory documentation prep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Q1 2027: Clinical pilot (partner hospital) + Series A raise (£500k) for FDA/CE submission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Q2 2027: Regulatory clearance + first commercial shipments + open-source hardware release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THE ASK: £75,000 seed round — 20% equity — funds 20-prototype batch, phantom validation, and 6-month runway to peer-reviewed publication and Series 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  <a:latin typeface="Calibri"/>
              </a:defRPr>
            </a:pPr>
            <a:r>
              <a:t>The Team</a:t>
            </a:r>
          </a:p>
          <a:p>
            <a:pPr>
              <a:spcBef>
                <a:spcPts val="400"/>
              </a:spcBef>
              <a:defRPr sz="1600">
                <a:solidFill>
                  <a:srgbClr val="0096C7"/>
                </a:solidFill>
                <a:latin typeface="Calibri"/>
              </a:defRPr>
            </a:pPr>
            <a:r>
              <a:t>Small team, deep expertise, clear gaps we know how to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James [Surname] — Founder / Lead Engineer: Embedded systems, FPGA, ultrasound hardware. Built TurboQuant V1–V5 from scratch.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Research collaborator: Bayesian inverse problem specialist — MCMC framework, FDTD simulation, phantom protocol design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Advisory: Clinical hepatologist (NHS) — validation pathway, regulatory guidance, clinical trial design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Advisory: MedTech entrepreneur — prior exit to Siemens Healthineers, FDA 510(k) experience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Extended team: Open-source community contributors (KiCad, FPGA, DSP); 15+ GitHub contributors to date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• What we need now: £75k to bridge from working prototype to publication + regulatory-ready validation dataset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96C7"/>
                </a:solidFill>
                <a:latin typeface="Calibri"/>
              </a:defRPr>
            </a:pPr>
            <a:r>
              <a:t>SEED ROUND: £75,000 | 20% EQUITY | 6-MONTH RUNWAY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t>TURBOQUANT</a:t>
            </a:r>
          </a:p>
          <a:p>
            <a:pPr>
              <a:spcBef>
                <a:spcPts val="1600"/>
              </a:spcBef>
              <a:defRPr sz="2600">
                <a:solidFill>
                  <a:srgbClr val="0096C7"/>
                </a:solidFill>
                <a:latin typeface="Calibri"/>
              </a:defRPr>
            </a:pPr>
            <a:r>
              <a:t>Open Hardware. Rigorous Physics. Real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